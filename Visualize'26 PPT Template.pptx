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Garet Bold" panose="020B0604020202020204" charset="0"/>
      <p:regular r:id="rId12"/>
    </p:embeddedFont>
    <p:embeddedFont>
      <p:font typeface="Hussar Bold" panose="020B0604020202020204" charset="0"/>
      <p:regular r:id="rId13"/>
    </p:embeddedFont>
    <p:embeddedFont>
      <p:font typeface="Norwester" panose="020B0604020202020204" charset="0"/>
      <p:regular r:id="rId14"/>
    </p:embeddedFont>
    <p:embeddedFont>
      <p:font typeface="Roboto" panose="02000000000000000000" pitchFamily="2" charset="0"/>
      <p:regular r:id="rId15"/>
      <p:bold r:id="rId16"/>
      <p:italic r:id="rId17"/>
      <p:boldItalic r:id="rId18"/>
    </p:embeddedFont>
    <p:embeddedFont>
      <p:font typeface="Times New Roman MT Bold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898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11" Type="http://schemas.openxmlformats.org/officeDocument/2006/relationships/image" Target="../media/image10.png"/><Relationship Id="rId5" Type="http://schemas.openxmlformats.org/officeDocument/2006/relationships/image" Target="../media/image4.jpe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hyperlink" Target="https://www.researchgate.net/publication/388681274_Design_and_Development_of_a_Digital_Platform_for_Peer_-to_-Peer_Book_Exchange" TargetMode="External"/><Relationship Id="rId7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semanticscholar.org/paper/Hybrid-Development-in-Flutter-and-its-Widgits-Sharma-Khare/ef735088151f358ce15d725bb36a4232702fea74" TargetMode="External"/><Relationship Id="rId5" Type="http://schemas.openxmlformats.org/officeDocument/2006/relationships/hyperlink" Target="https://www.semanticscholar.org/paper/Design-and-Implementation-of-Book-Sharing-System-Ansari-Mhatre/194ba07c8a68fb4e06043effb4e4048163e41599" TargetMode="External"/><Relationship Id="rId4" Type="http://schemas.openxmlformats.org/officeDocument/2006/relationships/hyperlink" Target="https://www.semanticscholar.org/paper/Book-Share-(BS)-Apps-using-the-Android-System-Latif-Marsujitullah/292b2cbbae8f95729d5cd40b168e2bb4df71303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152541" y="8765026"/>
            <a:ext cx="19464737" cy="3086100"/>
            <a:chOff x="0" y="0"/>
            <a:chExt cx="5126515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26515" cy="812800"/>
            </a:xfrm>
            <a:custGeom>
              <a:avLst/>
              <a:gdLst/>
              <a:ahLst/>
              <a:cxnLst/>
              <a:rect l="l" t="t" r="r" b="b"/>
              <a:pathLst>
                <a:path w="5126515" h="812800">
                  <a:moveTo>
                    <a:pt x="0" y="0"/>
                  </a:moveTo>
                  <a:lnTo>
                    <a:pt x="5126515" y="0"/>
                  </a:lnTo>
                  <a:lnTo>
                    <a:pt x="5126515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5AAD59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5126515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3710668" y="6011466"/>
            <a:ext cx="7421336" cy="6493669"/>
            <a:chOff x="0" y="0"/>
            <a:chExt cx="812800" cy="711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95D45D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-10800000">
            <a:off x="-1024196" y="5738089"/>
            <a:ext cx="2052896" cy="1796284"/>
            <a:chOff x="0" y="0"/>
            <a:chExt cx="812800" cy="7112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6DBF6C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 rot="-10800000">
            <a:off x="14577332" y="-2218134"/>
            <a:ext cx="7421336" cy="6493669"/>
            <a:chOff x="0" y="0"/>
            <a:chExt cx="812800" cy="7112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95D45D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7259300" y="2931737"/>
            <a:ext cx="2052896" cy="1796284"/>
            <a:chOff x="0" y="0"/>
            <a:chExt cx="812800" cy="7112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6DBF6C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 rot="-10800000">
            <a:off x="17259300" y="4728021"/>
            <a:ext cx="2052896" cy="1796284"/>
            <a:chOff x="0" y="0"/>
            <a:chExt cx="812800" cy="7112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AAD59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-1024196" y="3941805"/>
            <a:ext cx="2052896" cy="1796284"/>
            <a:chOff x="0" y="0"/>
            <a:chExt cx="812800" cy="7112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AAD59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4" name="Freeform 24"/>
          <p:cNvSpPr/>
          <p:nvPr/>
        </p:nvSpPr>
        <p:spPr>
          <a:xfrm>
            <a:off x="14577332" y="590225"/>
            <a:ext cx="2212466" cy="1884312"/>
          </a:xfrm>
          <a:custGeom>
            <a:avLst/>
            <a:gdLst/>
            <a:ahLst/>
            <a:cxnLst/>
            <a:rect l="l" t="t" r="r" b="b"/>
            <a:pathLst>
              <a:path w="2212466" h="1884312">
                <a:moveTo>
                  <a:pt x="0" y="0"/>
                </a:moveTo>
                <a:lnTo>
                  <a:pt x="2212466" y="0"/>
                </a:lnTo>
                <a:lnTo>
                  <a:pt x="2212466" y="1884312"/>
                </a:lnTo>
                <a:lnTo>
                  <a:pt x="0" y="18843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405" t="-13167" r="-9405" b="-26334"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1526400" y="568383"/>
            <a:ext cx="1791127" cy="1906154"/>
          </a:xfrm>
          <a:custGeom>
            <a:avLst/>
            <a:gdLst/>
            <a:ahLst/>
            <a:cxnLst/>
            <a:rect l="l" t="t" r="r" b="b"/>
            <a:pathLst>
              <a:path w="1791127" h="1906154">
                <a:moveTo>
                  <a:pt x="0" y="0"/>
                </a:moveTo>
                <a:lnTo>
                  <a:pt x="1791127" y="0"/>
                </a:lnTo>
                <a:lnTo>
                  <a:pt x="1791127" y="1906154"/>
                </a:lnTo>
                <a:lnTo>
                  <a:pt x="0" y="19061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26" name="Group 26"/>
          <p:cNvGrpSpPr/>
          <p:nvPr/>
        </p:nvGrpSpPr>
        <p:grpSpPr>
          <a:xfrm>
            <a:off x="2821207" y="9088876"/>
            <a:ext cx="14292714" cy="1079209"/>
            <a:chOff x="0" y="0"/>
            <a:chExt cx="19056952" cy="1438945"/>
          </a:xfrm>
        </p:grpSpPr>
        <p:sp>
          <p:nvSpPr>
            <p:cNvPr id="27" name="Freeform 27"/>
            <p:cNvSpPr/>
            <p:nvPr/>
          </p:nvSpPr>
          <p:spPr>
            <a:xfrm>
              <a:off x="3572077" y="245072"/>
              <a:ext cx="4548558" cy="948801"/>
            </a:xfrm>
            <a:custGeom>
              <a:avLst/>
              <a:gdLst/>
              <a:ahLst/>
              <a:cxnLst/>
              <a:rect l="l" t="t" r="r" b="b"/>
              <a:pathLst>
                <a:path w="4548558" h="948801">
                  <a:moveTo>
                    <a:pt x="0" y="0"/>
                  </a:moveTo>
                  <a:lnTo>
                    <a:pt x="4548558" y="0"/>
                  </a:lnTo>
                  <a:lnTo>
                    <a:pt x="4548558" y="948801"/>
                  </a:lnTo>
                  <a:lnTo>
                    <a:pt x="0" y="9488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4043" t="-9424" b="-49762"/>
              </a:stretch>
            </a:blipFill>
          </p:spPr>
        </p:sp>
        <p:sp>
          <p:nvSpPr>
            <p:cNvPr id="28" name="Freeform 28"/>
            <p:cNvSpPr/>
            <p:nvPr/>
          </p:nvSpPr>
          <p:spPr>
            <a:xfrm>
              <a:off x="10195495" y="169467"/>
              <a:ext cx="3375297" cy="1100011"/>
            </a:xfrm>
            <a:custGeom>
              <a:avLst/>
              <a:gdLst/>
              <a:ahLst/>
              <a:cxnLst/>
              <a:rect l="l" t="t" r="r" b="b"/>
              <a:pathLst>
                <a:path w="3375297" h="1100011">
                  <a:moveTo>
                    <a:pt x="0" y="0"/>
                  </a:moveTo>
                  <a:lnTo>
                    <a:pt x="3375297" y="0"/>
                  </a:lnTo>
                  <a:lnTo>
                    <a:pt x="3375297" y="1100011"/>
                  </a:lnTo>
                  <a:lnTo>
                    <a:pt x="0" y="11000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05196" b="-101645"/>
              </a:stretch>
            </a:blipFill>
          </p:spPr>
        </p:sp>
        <p:grpSp>
          <p:nvGrpSpPr>
            <p:cNvPr id="29" name="Group 29"/>
            <p:cNvGrpSpPr/>
            <p:nvPr/>
          </p:nvGrpSpPr>
          <p:grpSpPr>
            <a:xfrm>
              <a:off x="0" y="0"/>
              <a:ext cx="1438945" cy="1438945"/>
              <a:chOff x="0" y="0"/>
              <a:chExt cx="812800" cy="81280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7"/>
                <a:stretch>
                  <a:fillRect l="-13947" t="-60602" r="-18119" b="-63715"/>
                </a:stretch>
              </a:blipFill>
            </p:spPr>
          </p:sp>
        </p:grpSp>
        <p:grpSp>
          <p:nvGrpSpPr>
            <p:cNvPr id="31" name="Group 31"/>
            <p:cNvGrpSpPr/>
            <p:nvPr/>
          </p:nvGrpSpPr>
          <p:grpSpPr>
            <a:xfrm>
              <a:off x="1786039" y="0"/>
              <a:ext cx="1438945" cy="1438945"/>
              <a:chOff x="0" y="0"/>
              <a:chExt cx="812800" cy="81280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8"/>
                <a:stretch>
                  <a:fillRect l="-31556" t="-16823" r="-31036" b="-11630"/>
                </a:stretch>
              </a:blipFill>
            </p:spPr>
          </p:sp>
        </p:grpSp>
        <p:grpSp>
          <p:nvGrpSpPr>
            <p:cNvPr id="33" name="Group 33"/>
            <p:cNvGrpSpPr/>
            <p:nvPr/>
          </p:nvGrpSpPr>
          <p:grpSpPr>
            <a:xfrm>
              <a:off x="13917885" y="0"/>
              <a:ext cx="1438945" cy="1438945"/>
              <a:chOff x="0" y="0"/>
              <a:chExt cx="812800" cy="81280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9"/>
                <a:stretch>
                  <a:fillRect l="-3125" r="-3125"/>
                </a:stretch>
              </a:blipFill>
            </p:spPr>
          </p:sp>
        </p:grpSp>
        <p:grpSp>
          <p:nvGrpSpPr>
            <p:cNvPr id="35" name="Group 35"/>
            <p:cNvGrpSpPr/>
            <p:nvPr/>
          </p:nvGrpSpPr>
          <p:grpSpPr>
            <a:xfrm>
              <a:off x="15703924" y="0"/>
              <a:ext cx="1438945" cy="1438945"/>
              <a:chOff x="0" y="0"/>
              <a:chExt cx="812800" cy="81280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10"/>
                <a:stretch>
                  <a:fillRect l="-6973" t="-53188" r="-12902" b="-50423"/>
                </a:stretch>
              </a:blipFill>
            </p:spPr>
          </p:sp>
        </p:grpSp>
        <p:sp>
          <p:nvSpPr>
            <p:cNvPr id="37" name="Freeform 37"/>
            <p:cNvSpPr/>
            <p:nvPr/>
          </p:nvSpPr>
          <p:spPr>
            <a:xfrm>
              <a:off x="8467728" y="29136"/>
              <a:ext cx="1380673" cy="1380673"/>
            </a:xfrm>
            <a:custGeom>
              <a:avLst/>
              <a:gdLst/>
              <a:ahLst/>
              <a:cxnLst/>
              <a:rect l="l" t="t" r="r" b="b"/>
              <a:pathLst>
                <a:path w="1380673" h="1380673">
                  <a:moveTo>
                    <a:pt x="0" y="0"/>
                  </a:moveTo>
                  <a:lnTo>
                    <a:pt x="1380673" y="0"/>
                  </a:lnTo>
                  <a:lnTo>
                    <a:pt x="1380673" y="1380673"/>
                  </a:lnTo>
                  <a:lnTo>
                    <a:pt x="0" y="13806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/>
              </a:stretch>
            </a:blipFill>
          </p:spPr>
        </p:sp>
        <p:sp>
          <p:nvSpPr>
            <p:cNvPr id="38" name="Freeform 38"/>
            <p:cNvSpPr/>
            <p:nvPr/>
          </p:nvSpPr>
          <p:spPr>
            <a:xfrm>
              <a:off x="17489963" y="15580"/>
              <a:ext cx="1566989" cy="1407785"/>
            </a:xfrm>
            <a:custGeom>
              <a:avLst/>
              <a:gdLst/>
              <a:ahLst/>
              <a:cxnLst/>
              <a:rect l="l" t="t" r="r" b="b"/>
              <a:pathLst>
                <a:path w="1566989" h="1407785">
                  <a:moveTo>
                    <a:pt x="0" y="0"/>
                  </a:moveTo>
                  <a:lnTo>
                    <a:pt x="1566989" y="0"/>
                  </a:lnTo>
                  <a:lnTo>
                    <a:pt x="1566989" y="1407785"/>
                  </a:lnTo>
                  <a:lnTo>
                    <a:pt x="0" y="1407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-4656" t="-35135" r="-1342" b="-32319"/>
              </a:stretch>
            </a:blipFill>
          </p:spPr>
        </p:sp>
      </p:grpSp>
      <p:sp>
        <p:nvSpPr>
          <p:cNvPr id="39" name="TextBox 39"/>
          <p:cNvSpPr txBox="1"/>
          <p:nvPr/>
        </p:nvSpPr>
        <p:spPr>
          <a:xfrm>
            <a:off x="2760004" y="2350712"/>
            <a:ext cx="12374852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dirty="0">
                <a:solidFill>
                  <a:srgbClr val="545454"/>
                </a:solidFill>
                <a:latin typeface="Hussar Bold"/>
                <a:ea typeface="Hussar Bold"/>
                <a:cs typeface="Hussar Bold"/>
                <a:sym typeface="Hussar Bold"/>
              </a:rPr>
              <a:t>BOOK BRIDGE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990452" y="7639334"/>
            <a:ext cx="4981221" cy="695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75783" lvl="1" indent="-437891" algn="l">
              <a:lnSpc>
                <a:spcPts val="5678"/>
              </a:lnSpc>
              <a:buFont typeface="Arial"/>
              <a:buChar char="•"/>
            </a:pPr>
            <a:r>
              <a:rPr lang="en-US" sz="4056" b="1" spc="60" dirty="0">
                <a:solidFill>
                  <a:srgbClr val="27272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Team Members: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990451" y="5658407"/>
            <a:ext cx="2772415" cy="6954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75783" lvl="1" indent="-437891" algn="l">
              <a:lnSpc>
                <a:spcPts val="5678"/>
              </a:lnSpc>
              <a:buFont typeface="Arial"/>
              <a:buChar char="•"/>
            </a:pPr>
            <a:r>
              <a:rPr lang="en-US" sz="4056" b="1" spc="60" dirty="0">
                <a:solidFill>
                  <a:srgbClr val="27272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Theme: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990452" y="3677479"/>
            <a:ext cx="3168080" cy="6954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75783" lvl="1" indent="-437891" algn="l">
              <a:lnSpc>
                <a:spcPts val="5678"/>
              </a:lnSpc>
              <a:buFont typeface="Arial"/>
              <a:buChar char="•"/>
            </a:pPr>
            <a:r>
              <a:rPr lang="en-US" sz="4056" b="1" spc="60" dirty="0">
                <a:solidFill>
                  <a:srgbClr val="27272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PS ID: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990452" y="4687547"/>
            <a:ext cx="3168081" cy="695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75783" lvl="1" indent="-437891" algn="l">
              <a:lnSpc>
                <a:spcPts val="5678"/>
              </a:lnSpc>
              <a:buFont typeface="Arial"/>
              <a:buChar char="•"/>
            </a:pPr>
            <a:r>
              <a:rPr lang="en-US" sz="4056" b="1" spc="60" dirty="0">
                <a:solidFill>
                  <a:srgbClr val="27272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PS Title: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961641" y="6631698"/>
            <a:ext cx="4895094" cy="695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75783" lvl="1" indent="-437891" algn="l">
              <a:lnSpc>
                <a:spcPts val="5678"/>
              </a:lnSpc>
              <a:buFont typeface="Arial"/>
              <a:buChar char="•"/>
            </a:pPr>
            <a:r>
              <a:rPr lang="en-US" sz="4056" b="1" spc="60" dirty="0">
                <a:solidFill>
                  <a:srgbClr val="27272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Team Name: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4049139" y="848937"/>
            <a:ext cx="9796582" cy="939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50"/>
              </a:lnSpc>
            </a:pPr>
            <a:r>
              <a:rPr lang="en-US" sz="5000" spc="575">
                <a:solidFill>
                  <a:srgbClr val="1D3616"/>
                </a:solidFill>
                <a:latin typeface="Norwester"/>
                <a:ea typeface="Norwester"/>
                <a:cs typeface="Norwester"/>
                <a:sym typeface="Norwester"/>
              </a:rPr>
              <a:t>Visualize’26 24hr Hackathon</a:t>
            </a:r>
          </a:p>
        </p:txBody>
      </p:sp>
      <p:sp>
        <p:nvSpPr>
          <p:cNvPr id="46" name="TextBox 42">
            <a:extLst>
              <a:ext uri="{FF2B5EF4-FFF2-40B4-BE49-F238E27FC236}">
                <a16:creationId xmlns:a16="http://schemas.microsoft.com/office/drawing/2014/main" id="{DE62A93B-32C5-E4D8-36D6-C86D77FE5774}"/>
              </a:ext>
            </a:extLst>
          </p:cNvPr>
          <p:cNvSpPr txBox="1"/>
          <p:nvPr/>
        </p:nvSpPr>
        <p:spPr>
          <a:xfrm>
            <a:off x="7162800" y="3558912"/>
            <a:ext cx="4520813" cy="6954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37892" lvl="1" algn="l">
              <a:lnSpc>
                <a:spcPts val="5678"/>
              </a:lnSpc>
            </a:pPr>
            <a:r>
              <a:rPr lang="en-US" sz="4056" spc="60" dirty="0">
                <a:solidFill>
                  <a:srgbClr val="27272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 VH26-AI-07</a:t>
            </a:r>
          </a:p>
        </p:txBody>
      </p:sp>
      <p:sp>
        <p:nvSpPr>
          <p:cNvPr id="47" name="TextBox 42">
            <a:extLst>
              <a:ext uri="{FF2B5EF4-FFF2-40B4-BE49-F238E27FC236}">
                <a16:creationId xmlns:a16="http://schemas.microsoft.com/office/drawing/2014/main" id="{FE4B1270-71E4-E6A7-BA4C-B81AFD68DFE5}"/>
              </a:ext>
            </a:extLst>
          </p:cNvPr>
          <p:cNvSpPr txBox="1"/>
          <p:nvPr/>
        </p:nvSpPr>
        <p:spPr>
          <a:xfrm>
            <a:off x="6781800" y="4625989"/>
            <a:ext cx="5334000" cy="6954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37892" lvl="1">
              <a:lnSpc>
                <a:spcPts val="5678"/>
              </a:lnSpc>
            </a:pPr>
            <a:r>
              <a:rPr lang="en-US" sz="4056" spc="60" dirty="0">
                <a:solidFill>
                  <a:srgbClr val="27272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 Student Innovation</a:t>
            </a:r>
            <a:endParaRPr lang="en-US" sz="4056" spc="60" dirty="0">
              <a:solidFill>
                <a:srgbClr val="272727"/>
              </a:solidFill>
              <a:latin typeface="Times New Roman MT Bold"/>
              <a:sym typeface="Times New Roman MT Bold"/>
            </a:endParaRPr>
          </a:p>
        </p:txBody>
      </p:sp>
      <p:sp>
        <p:nvSpPr>
          <p:cNvPr id="48" name="TextBox 42">
            <a:extLst>
              <a:ext uri="{FF2B5EF4-FFF2-40B4-BE49-F238E27FC236}">
                <a16:creationId xmlns:a16="http://schemas.microsoft.com/office/drawing/2014/main" id="{DCA17C75-DDF8-EC92-BF47-AD05FE4E10FE}"/>
              </a:ext>
            </a:extLst>
          </p:cNvPr>
          <p:cNvSpPr txBox="1"/>
          <p:nvPr/>
        </p:nvSpPr>
        <p:spPr>
          <a:xfrm>
            <a:off x="7223463" y="5607072"/>
            <a:ext cx="3532144" cy="6954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37892" lvl="1" algn="l">
              <a:lnSpc>
                <a:spcPts val="5678"/>
              </a:lnSpc>
            </a:pPr>
            <a:r>
              <a:rPr lang="en-US" sz="4056" spc="60" dirty="0">
                <a:solidFill>
                  <a:srgbClr val="27272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 Agentic AI</a:t>
            </a:r>
          </a:p>
        </p:txBody>
      </p:sp>
      <p:sp>
        <p:nvSpPr>
          <p:cNvPr id="49" name="TextBox 42">
            <a:extLst>
              <a:ext uri="{FF2B5EF4-FFF2-40B4-BE49-F238E27FC236}">
                <a16:creationId xmlns:a16="http://schemas.microsoft.com/office/drawing/2014/main" id="{E68D8BFF-292C-84DE-E6BF-1EF0381BED27}"/>
              </a:ext>
            </a:extLst>
          </p:cNvPr>
          <p:cNvSpPr txBox="1"/>
          <p:nvPr/>
        </p:nvSpPr>
        <p:spPr>
          <a:xfrm>
            <a:off x="7078495" y="6631697"/>
            <a:ext cx="4110355" cy="6954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37892" lvl="1" algn="l">
              <a:lnSpc>
                <a:spcPts val="5678"/>
              </a:lnSpc>
            </a:pPr>
            <a:r>
              <a:rPr lang="en-US" sz="4056" spc="60" dirty="0">
                <a:solidFill>
                  <a:srgbClr val="27272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Visionary Squad</a:t>
            </a:r>
          </a:p>
        </p:txBody>
      </p:sp>
      <p:sp>
        <p:nvSpPr>
          <p:cNvPr id="50" name="TextBox 42">
            <a:extLst>
              <a:ext uri="{FF2B5EF4-FFF2-40B4-BE49-F238E27FC236}">
                <a16:creationId xmlns:a16="http://schemas.microsoft.com/office/drawing/2014/main" id="{5126790D-7A82-E896-D7CD-9127B00392E7}"/>
              </a:ext>
            </a:extLst>
          </p:cNvPr>
          <p:cNvSpPr txBox="1"/>
          <p:nvPr/>
        </p:nvSpPr>
        <p:spPr>
          <a:xfrm>
            <a:off x="8437301" y="7667471"/>
            <a:ext cx="4110355" cy="6954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37892" lvl="1" algn="l">
              <a:lnSpc>
                <a:spcPts val="5678"/>
              </a:lnSpc>
            </a:pPr>
            <a:r>
              <a:rPr lang="en-US" sz="4056" spc="60" dirty="0">
                <a:solidFill>
                  <a:srgbClr val="27272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966" y="24359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3710668" y="6011466"/>
            <a:ext cx="7421336" cy="6493669"/>
            <a:chOff x="0" y="0"/>
            <a:chExt cx="812800" cy="7112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95D45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5400000">
            <a:off x="2696678" y="9388858"/>
            <a:ext cx="2052896" cy="1796284"/>
            <a:chOff x="0" y="0"/>
            <a:chExt cx="812800" cy="711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6DBF6C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-5400000">
            <a:off x="900394" y="9388858"/>
            <a:ext cx="2052896" cy="1796284"/>
            <a:chOff x="0" y="0"/>
            <a:chExt cx="812800" cy="7112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AAD59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432650" y="525175"/>
            <a:ext cx="1042825" cy="1109795"/>
          </a:xfrm>
          <a:custGeom>
            <a:avLst/>
            <a:gdLst/>
            <a:ahLst/>
            <a:cxnLst/>
            <a:rect l="l" t="t" r="r" b="b"/>
            <a:pathLst>
              <a:path w="1042825" h="1109795">
                <a:moveTo>
                  <a:pt x="0" y="0"/>
                </a:moveTo>
                <a:lnTo>
                  <a:pt x="1042825" y="0"/>
                </a:lnTo>
                <a:lnTo>
                  <a:pt x="1042825" y="1109796"/>
                </a:lnTo>
                <a:lnTo>
                  <a:pt x="0" y="11097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22953" y="525175"/>
            <a:ext cx="1399814" cy="1192193"/>
          </a:xfrm>
          <a:custGeom>
            <a:avLst/>
            <a:gdLst/>
            <a:ahLst/>
            <a:cxnLst/>
            <a:rect l="l" t="t" r="r" b="b"/>
            <a:pathLst>
              <a:path w="1399814" h="1192193">
                <a:moveTo>
                  <a:pt x="0" y="0"/>
                </a:moveTo>
                <a:lnTo>
                  <a:pt x="1399815" y="0"/>
                </a:lnTo>
                <a:lnTo>
                  <a:pt x="1399815" y="1192193"/>
                </a:lnTo>
                <a:lnTo>
                  <a:pt x="0" y="11921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405" t="-13167" r="-9405" b="-26334"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7175534" y="853769"/>
            <a:ext cx="3936932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545454"/>
                </a:solidFill>
                <a:latin typeface="Hussar Bold"/>
                <a:ea typeface="Hussar Bold"/>
                <a:cs typeface="Hussar Bold"/>
                <a:sym typeface="Hussar Bold"/>
              </a:rPr>
              <a:t>ABSTRACT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6405423" y="9070175"/>
            <a:ext cx="853877" cy="643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12"/>
              </a:lnSpc>
            </a:pPr>
            <a:r>
              <a:rPr lang="en-US" sz="3794">
                <a:solidFill>
                  <a:srgbClr val="545454"/>
                </a:solidFill>
                <a:latin typeface="Hussar Bold"/>
                <a:ea typeface="Hussar Bold"/>
                <a:cs typeface="Hussar Bold"/>
                <a:sym typeface="Hussar Bold"/>
              </a:rPr>
              <a:t>01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519090" y="2222639"/>
            <a:ext cx="13710478" cy="6796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6106" lvl="1" indent="-313053" algn="just">
              <a:lnSpc>
                <a:spcPts val="4059"/>
              </a:lnSpc>
              <a:buFont typeface="Arial"/>
              <a:buChar char="•"/>
            </a:pPr>
            <a:r>
              <a:rPr lang="en-US" sz="2800" dirty="0"/>
              <a:t>Access to books in </a:t>
            </a:r>
            <a:r>
              <a:rPr lang="en-US" sz="2800" b="1" dirty="0"/>
              <a:t>residential communities </a:t>
            </a:r>
            <a:r>
              <a:rPr lang="en-US" sz="2800" dirty="0"/>
              <a:t>and small libraries is often limited due to manual coordination and poor digital visibility.</a:t>
            </a:r>
          </a:p>
          <a:p>
            <a:pPr marL="626106" lvl="1" indent="-313053" algn="just">
              <a:lnSpc>
                <a:spcPts val="4059"/>
              </a:lnSpc>
              <a:buFont typeface="Arial"/>
              <a:buChar char="•"/>
            </a:pPr>
            <a:r>
              <a:rPr lang="en-US" sz="2800" dirty="0"/>
              <a:t>BOOKBRIDGE is proposed as a community-based mobile application for </a:t>
            </a:r>
            <a:r>
              <a:rPr lang="en-US" sz="2800" b="1" dirty="0"/>
              <a:t>peer-to-peer book sharing.</a:t>
            </a:r>
          </a:p>
          <a:p>
            <a:pPr marL="626106" lvl="1" indent="-313053" algn="just">
              <a:lnSpc>
                <a:spcPts val="4059"/>
              </a:lnSpc>
              <a:buFont typeface="Arial"/>
              <a:buChar char="•"/>
            </a:pPr>
            <a:r>
              <a:rPr lang="en-US" sz="2800" dirty="0"/>
              <a:t>Users will be able to </a:t>
            </a:r>
            <a:r>
              <a:rPr lang="en-US" sz="2800" b="1" dirty="0"/>
              <a:t>list their books</a:t>
            </a:r>
            <a:r>
              <a:rPr lang="en-US" sz="2800" dirty="0"/>
              <a:t>, browse available books, and </a:t>
            </a:r>
            <a:r>
              <a:rPr lang="en-US" sz="2800" b="1" dirty="0"/>
              <a:t>request to borrow them within their community.</a:t>
            </a:r>
          </a:p>
          <a:p>
            <a:pPr marL="626106" lvl="1" indent="-313053" algn="just">
              <a:lnSpc>
                <a:spcPts val="4059"/>
              </a:lnSpc>
              <a:buFont typeface="Arial"/>
              <a:buChar char="•"/>
            </a:pPr>
            <a:r>
              <a:rPr lang="en-US" sz="2800" dirty="0"/>
              <a:t>The system will include administrative control with super admin and community-level admins.</a:t>
            </a:r>
          </a:p>
          <a:p>
            <a:pPr marL="626106" lvl="1" indent="-313053" algn="just">
              <a:lnSpc>
                <a:spcPts val="4059"/>
              </a:lnSpc>
              <a:buFont typeface="Arial"/>
              <a:buChar char="•"/>
            </a:pPr>
            <a:r>
              <a:rPr lang="en-US" sz="2800" dirty="0"/>
              <a:t>n8n will be used to </a:t>
            </a:r>
            <a:r>
              <a:rPr lang="en-US" sz="2800" b="1" dirty="0"/>
              <a:t>automate email notifications </a:t>
            </a:r>
            <a:r>
              <a:rPr lang="en-US" sz="2800" dirty="0"/>
              <a:t>when a new book is added to the community.</a:t>
            </a:r>
          </a:p>
          <a:p>
            <a:pPr marL="626106" lvl="1" indent="-313053" algn="just">
              <a:lnSpc>
                <a:spcPts val="4059"/>
              </a:lnSpc>
              <a:buFont typeface="Arial"/>
              <a:buChar char="•"/>
            </a:pPr>
            <a:r>
              <a:rPr lang="en-US" sz="2800" dirty="0"/>
              <a:t>The project aims to </a:t>
            </a:r>
            <a:r>
              <a:rPr lang="en-US" sz="2800" b="1" dirty="0"/>
              <a:t>improve accessibility, transparency</a:t>
            </a:r>
            <a:r>
              <a:rPr lang="en-US" sz="2800" dirty="0"/>
              <a:t>, and efficiency in community book sharing.</a:t>
            </a:r>
          </a:p>
          <a:p>
            <a:pPr algn="ctr">
              <a:lnSpc>
                <a:spcPts val="4059"/>
              </a:lnSpc>
            </a:pPr>
            <a:endParaRPr lang="en-US" sz="2899" dirty="0">
              <a:solidFill>
                <a:srgbClr val="5B694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7" name="Group 17"/>
          <p:cNvGrpSpPr/>
          <p:nvPr/>
        </p:nvGrpSpPr>
        <p:grpSpPr>
          <a:xfrm rot="-10800000">
            <a:off x="14577332" y="-2218134"/>
            <a:ext cx="7421336" cy="6493669"/>
            <a:chOff x="0" y="0"/>
            <a:chExt cx="812800" cy="7112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95D45D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 rot="5400000">
            <a:off x="14304978" y="-1794032"/>
            <a:ext cx="2052896" cy="3592568"/>
            <a:chOff x="0" y="0"/>
            <a:chExt cx="2737195" cy="4790090"/>
          </a:xfrm>
        </p:grpSpPr>
        <p:grpSp>
          <p:nvGrpSpPr>
            <p:cNvPr id="21" name="Group 21"/>
            <p:cNvGrpSpPr/>
            <p:nvPr/>
          </p:nvGrpSpPr>
          <p:grpSpPr>
            <a:xfrm>
              <a:off x="0" y="0"/>
              <a:ext cx="2737195" cy="2395045"/>
              <a:chOff x="0" y="0"/>
              <a:chExt cx="812800" cy="7112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6DBF6C"/>
              </a:solidFill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127000" y="292100"/>
                <a:ext cx="558800" cy="368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 rot="-10800000">
              <a:off x="0" y="2395045"/>
              <a:ext cx="2737195" cy="2395045"/>
              <a:chOff x="0" y="0"/>
              <a:chExt cx="812800" cy="7112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5AAD59"/>
              </a:solidFill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127000" y="292100"/>
                <a:ext cx="558800" cy="368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3710668" y="6011466"/>
            <a:ext cx="7421336" cy="6493669"/>
            <a:chOff x="0" y="0"/>
            <a:chExt cx="812800" cy="7112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95D45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5400000">
            <a:off x="2696678" y="9388858"/>
            <a:ext cx="2052896" cy="1796284"/>
            <a:chOff x="0" y="0"/>
            <a:chExt cx="812800" cy="711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6DBF6C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-10800000">
            <a:off x="14577332" y="-2218134"/>
            <a:ext cx="7421336" cy="6493669"/>
            <a:chOff x="0" y="0"/>
            <a:chExt cx="812800" cy="7112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95D45D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 rot="5400000">
            <a:off x="14304978" y="-1794032"/>
            <a:ext cx="2052896" cy="3592568"/>
            <a:chOff x="0" y="0"/>
            <a:chExt cx="2737195" cy="4790090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2737195" cy="2395045"/>
              <a:chOff x="0" y="0"/>
              <a:chExt cx="812800" cy="7112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6DBF6C"/>
              </a:soli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27000" y="292100"/>
                <a:ext cx="558800" cy="368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 rot="-10800000">
              <a:off x="0" y="2395045"/>
              <a:ext cx="2737195" cy="2395045"/>
              <a:chOff x="0" y="0"/>
              <a:chExt cx="812800" cy="7112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5AAD59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27000" y="292100"/>
                <a:ext cx="558800" cy="368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9" name="Group 19"/>
          <p:cNvGrpSpPr/>
          <p:nvPr/>
        </p:nvGrpSpPr>
        <p:grpSpPr>
          <a:xfrm rot="-5400000">
            <a:off x="900394" y="9388858"/>
            <a:ext cx="2052896" cy="1796284"/>
            <a:chOff x="0" y="0"/>
            <a:chExt cx="812800" cy="7112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AAD59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5161096" y="853769"/>
            <a:ext cx="7965809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545454"/>
                </a:solidFill>
                <a:latin typeface="Hussar Bold"/>
                <a:ea typeface="Hussar Bold"/>
                <a:cs typeface="Hussar Bold"/>
                <a:sym typeface="Hussar Bold"/>
              </a:rPr>
              <a:t>PROBLEM STATEMENT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6405423" y="9070175"/>
            <a:ext cx="853877" cy="643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12"/>
              </a:lnSpc>
            </a:pPr>
            <a:r>
              <a:rPr lang="en-US" sz="3794">
                <a:solidFill>
                  <a:srgbClr val="545454"/>
                </a:solidFill>
                <a:latin typeface="Hussar Bold"/>
                <a:ea typeface="Hussar Bold"/>
                <a:cs typeface="Hussar Bold"/>
                <a:sym typeface="Hussar Bold"/>
              </a:rPr>
              <a:t>02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680440" y="1951385"/>
            <a:ext cx="12870743" cy="83356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6601" lvl="1" indent="-288300" algn="just">
              <a:lnSpc>
                <a:spcPct val="150000"/>
              </a:lnSpc>
              <a:buFont typeface="Arial"/>
              <a:buChar char="•"/>
            </a:pPr>
            <a:r>
              <a:rPr lang="en-US" sz="3200" dirty="0">
                <a:sym typeface="Garet Bold"/>
              </a:rPr>
              <a:t>In most gated communities, there </a:t>
            </a:r>
            <a:r>
              <a:rPr lang="en-US" sz="3200" b="1" dirty="0">
                <a:sym typeface="Garet Bold"/>
              </a:rPr>
              <a:t>is no dedicated platform </a:t>
            </a:r>
            <a:r>
              <a:rPr lang="en-US" sz="3200" dirty="0">
                <a:sym typeface="Garet Bold"/>
              </a:rPr>
              <a:t>for residents to share or borrow books efficiently.</a:t>
            </a:r>
          </a:p>
          <a:p>
            <a:pPr marL="576601" lvl="1" indent="-288300" algn="just">
              <a:lnSpc>
                <a:spcPct val="150000"/>
              </a:lnSpc>
              <a:buFont typeface="Arial"/>
              <a:buChar char="•"/>
            </a:pPr>
            <a:r>
              <a:rPr lang="en-US" sz="3200" dirty="0">
                <a:sym typeface="Garet Bold"/>
              </a:rPr>
              <a:t>As a result, personal book collections </a:t>
            </a:r>
            <a:r>
              <a:rPr lang="en-US" sz="3200" b="1" dirty="0">
                <a:sym typeface="Garet Bold"/>
              </a:rPr>
              <a:t>remain underutilized</a:t>
            </a:r>
            <a:r>
              <a:rPr lang="en-US" sz="3200" dirty="0">
                <a:sym typeface="Garet Bold"/>
              </a:rPr>
              <a:t>, and opportunities for knowledge exchange are lost.</a:t>
            </a:r>
          </a:p>
          <a:p>
            <a:pPr marL="576601" lvl="1" indent="-288300" algn="just">
              <a:lnSpc>
                <a:spcPct val="150000"/>
              </a:lnSpc>
              <a:buFont typeface="Arial"/>
              <a:buChar char="•"/>
            </a:pPr>
            <a:r>
              <a:rPr lang="en-US" sz="3200" dirty="0">
                <a:sym typeface="Garet Bold"/>
              </a:rPr>
              <a:t> Existing online book platforms are either public or commercial, </a:t>
            </a:r>
            <a:r>
              <a:rPr lang="en-US" sz="3200" b="1" dirty="0">
                <a:sym typeface="Garet Bold"/>
              </a:rPr>
              <a:t>lacking the privacy and trust </a:t>
            </a:r>
            <a:r>
              <a:rPr lang="en-US" sz="3200" dirty="0">
                <a:sym typeface="Garet Bold"/>
              </a:rPr>
              <a:t>required in a community setting.</a:t>
            </a:r>
          </a:p>
          <a:p>
            <a:pPr marL="576601" lvl="1" indent="-288300" algn="just">
              <a:lnSpc>
                <a:spcPct val="150000"/>
              </a:lnSpc>
              <a:buFont typeface="Arial"/>
              <a:buChar char="•"/>
            </a:pPr>
            <a:r>
              <a:rPr lang="en-US" sz="3200" dirty="0">
                <a:sym typeface="Garet Bold"/>
              </a:rPr>
              <a:t> There is also a need for a secure system that can verify uploaded book images </a:t>
            </a:r>
            <a:r>
              <a:rPr lang="en-US" sz="3200" b="1" dirty="0">
                <a:sym typeface="Garet Bold"/>
              </a:rPr>
              <a:t>using AI to prevent inappropriate or vulnerable content.</a:t>
            </a:r>
          </a:p>
          <a:p>
            <a:pPr marL="576601" lvl="1" indent="-288300" algn="just">
              <a:lnSpc>
                <a:spcPct val="150000"/>
              </a:lnSpc>
              <a:buFont typeface="Arial"/>
              <a:buChar char="•"/>
            </a:pPr>
            <a:r>
              <a:rPr lang="en-US" sz="3200" dirty="0">
                <a:sym typeface="Garet Bold"/>
              </a:rPr>
              <a:t>Hence, a </a:t>
            </a:r>
            <a:r>
              <a:rPr lang="en-US" sz="3200" b="1" dirty="0">
                <a:sym typeface="Garet Bold"/>
              </a:rPr>
              <a:t>community-based digital solution</a:t>
            </a:r>
            <a:r>
              <a:rPr lang="en-US" sz="3200" dirty="0">
                <a:sym typeface="Garet Bold"/>
              </a:rPr>
              <a:t> is required to make book sharing safe, simple, and effective.</a:t>
            </a:r>
          </a:p>
          <a:p>
            <a:pPr marL="576601" lvl="1" indent="-288300" algn="just">
              <a:lnSpc>
                <a:spcPts val="3738"/>
              </a:lnSpc>
              <a:buFont typeface="Arial"/>
              <a:buChar char="•"/>
            </a:pPr>
            <a:endParaRPr lang="en-US" sz="3200" b="1" dirty="0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marL="288301" lvl="1" algn="just">
              <a:lnSpc>
                <a:spcPts val="3738"/>
              </a:lnSpc>
            </a:pPr>
            <a:endParaRPr lang="en-US" sz="3200" b="1" dirty="0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25" name="Freeform 25"/>
          <p:cNvSpPr/>
          <p:nvPr/>
        </p:nvSpPr>
        <p:spPr>
          <a:xfrm>
            <a:off x="432650" y="525175"/>
            <a:ext cx="1042825" cy="1109795"/>
          </a:xfrm>
          <a:custGeom>
            <a:avLst/>
            <a:gdLst/>
            <a:ahLst/>
            <a:cxnLst/>
            <a:rect l="l" t="t" r="r" b="b"/>
            <a:pathLst>
              <a:path w="1042825" h="1109795">
                <a:moveTo>
                  <a:pt x="0" y="0"/>
                </a:moveTo>
                <a:lnTo>
                  <a:pt x="1042825" y="0"/>
                </a:lnTo>
                <a:lnTo>
                  <a:pt x="1042825" y="1109796"/>
                </a:lnTo>
                <a:lnTo>
                  <a:pt x="0" y="11097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1622953" y="525175"/>
            <a:ext cx="1399814" cy="1192193"/>
          </a:xfrm>
          <a:custGeom>
            <a:avLst/>
            <a:gdLst/>
            <a:ahLst/>
            <a:cxnLst/>
            <a:rect l="l" t="t" r="r" b="b"/>
            <a:pathLst>
              <a:path w="1399814" h="1192193">
                <a:moveTo>
                  <a:pt x="0" y="0"/>
                </a:moveTo>
                <a:lnTo>
                  <a:pt x="1399815" y="0"/>
                </a:lnTo>
                <a:lnTo>
                  <a:pt x="1399815" y="1192193"/>
                </a:lnTo>
                <a:lnTo>
                  <a:pt x="0" y="11921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405" t="-13167" r="-9405" b="-26334"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3710668" y="6011466"/>
            <a:ext cx="7421336" cy="6493669"/>
            <a:chOff x="0" y="0"/>
            <a:chExt cx="812800" cy="7112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95D45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5400000">
            <a:off x="2696678" y="9388858"/>
            <a:ext cx="2052896" cy="1796284"/>
            <a:chOff x="0" y="0"/>
            <a:chExt cx="812800" cy="711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6DBF6C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-10800000">
            <a:off x="14577332" y="-2218134"/>
            <a:ext cx="7421336" cy="6493669"/>
            <a:chOff x="0" y="0"/>
            <a:chExt cx="812800" cy="7112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95D45D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 rot="5400000">
            <a:off x="14304978" y="-1794032"/>
            <a:ext cx="2052896" cy="3592568"/>
            <a:chOff x="0" y="0"/>
            <a:chExt cx="2737195" cy="4790090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2737195" cy="2395045"/>
              <a:chOff x="0" y="0"/>
              <a:chExt cx="812800" cy="7112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6DBF6C"/>
              </a:soli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27000" y="292100"/>
                <a:ext cx="558800" cy="368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 rot="-10800000">
              <a:off x="0" y="2395045"/>
              <a:ext cx="2737195" cy="2395045"/>
              <a:chOff x="0" y="0"/>
              <a:chExt cx="812800" cy="7112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5AAD59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27000" y="292100"/>
                <a:ext cx="558800" cy="368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9" name="Group 19"/>
          <p:cNvGrpSpPr/>
          <p:nvPr/>
        </p:nvGrpSpPr>
        <p:grpSpPr>
          <a:xfrm rot="-5400000">
            <a:off x="900394" y="9388858"/>
            <a:ext cx="2052896" cy="1796284"/>
            <a:chOff x="0" y="0"/>
            <a:chExt cx="812800" cy="7112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AAD59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6405423" y="9070175"/>
            <a:ext cx="853877" cy="643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12"/>
              </a:lnSpc>
            </a:pPr>
            <a:r>
              <a:rPr lang="en-US" sz="3794">
                <a:solidFill>
                  <a:srgbClr val="545454"/>
                </a:solidFill>
                <a:latin typeface="Hussar Bold"/>
                <a:ea typeface="Hussar Bold"/>
                <a:cs typeface="Hussar Bold"/>
                <a:sym typeface="Hussar Bold"/>
              </a:rPr>
              <a:t>03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459314" y="853769"/>
            <a:ext cx="7369373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545454"/>
                </a:solidFill>
                <a:latin typeface="Hussar Bold"/>
                <a:ea typeface="Hussar Bold"/>
                <a:cs typeface="Hussar Bold"/>
                <a:sym typeface="Hussar Bold"/>
              </a:rPr>
              <a:t>EXISTING SOLUTION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696679" y="3007032"/>
            <a:ext cx="12680166" cy="52270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26106" lvl="1" indent="-313053" algn="just">
              <a:buFont typeface="Arial"/>
              <a:buChar char="•"/>
            </a:pPr>
            <a:r>
              <a:rPr lang="en-US" sz="4400" dirty="0"/>
              <a:t>Many existing book sharing platforms </a:t>
            </a:r>
            <a:r>
              <a:rPr lang="en-US" sz="4400" b="1" dirty="0"/>
              <a:t>expose book owner details publicly</a:t>
            </a:r>
            <a:r>
              <a:rPr lang="en-US" sz="4400" dirty="0"/>
              <a:t>, which can lead to privacy and security concerns.</a:t>
            </a:r>
          </a:p>
          <a:p>
            <a:pPr marL="626106" lvl="1" indent="-313053" algn="just">
              <a:buFont typeface="Arial"/>
              <a:buChar char="•"/>
            </a:pPr>
            <a:r>
              <a:rPr lang="en-US" sz="4400" dirty="0"/>
              <a:t>Most systems </a:t>
            </a:r>
            <a:r>
              <a:rPr lang="en-US" sz="4400" b="1" dirty="0"/>
              <a:t>lack AI-based verification </a:t>
            </a:r>
            <a:r>
              <a:rPr lang="en-US" sz="4400" dirty="0"/>
              <a:t>to check book content during uploads.</a:t>
            </a:r>
          </a:p>
          <a:p>
            <a:pPr marL="626106" lvl="1" indent="-313053" algn="just">
              <a:buFont typeface="Arial"/>
              <a:buChar char="•"/>
            </a:pPr>
            <a:r>
              <a:rPr lang="en-US" sz="4400" dirty="0"/>
              <a:t>Due to the absence of content filtering, children may access inappropriate or vulnerable book content.</a:t>
            </a:r>
            <a:endParaRPr lang="en-US" sz="4400" dirty="0">
              <a:sym typeface="Roboto"/>
            </a:endParaRPr>
          </a:p>
          <a:p>
            <a:pPr algn="ctr">
              <a:lnSpc>
                <a:spcPts val="4059"/>
              </a:lnSpc>
            </a:pPr>
            <a:endParaRPr lang="en-US" sz="2899" dirty="0">
              <a:solidFill>
                <a:srgbClr val="5B694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" name="Freeform 25"/>
          <p:cNvSpPr/>
          <p:nvPr/>
        </p:nvSpPr>
        <p:spPr>
          <a:xfrm>
            <a:off x="432650" y="525175"/>
            <a:ext cx="1042825" cy="1109795"/>
          </a:xfrm>
          <a:custGeom>
            <a:avLst/>
            <a:gdLst/>
            <a:ahLst/>
            <a:cxnLst/>
            <a:rect l="l" t="t" r="r" b="b"/>
            <a:pathLst>
              <a:path w="1042825" h="1109795">
                <a:moveTo>
                  <a:pt x="0" y="0"/>
                </a:moveTo>
                <a:lnTo>
                  <a:pt x="1042825" y="0"/>
                </a:lnTo>
                <a:lnTo>
                  <a:pt x="1042825" y="1109796"/>
                </a:lnTo>
                <a:lnTo>
                  <a:pt x="0" y="11097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1622953" y="525175"/>
            <a:ext cx="1399814" cy="1192193"/>
          </a:xfrm>
          <a:custGeom>
            <a:avLst/>
            <a:gdLst/>
            <a:ahLst/>
            <a:cxnLst/>
            <a:rect l="l" t="t" r="r" b="b"/>
            <a:pathLst>
              <a:path w="1399814" h="1192193">
                <a:moveTo>
                  <a:pt x="0" y="0"/>
                </a:moveTo>
                <a:lnTo>
                  <a:pt x="1399815" y="0"/>
                </a:lnTo>
                <a:lnTo>
                  <a:pt x="1399815" y="1192193"/>
                </a:lnTo>
                <a:lnTo>
                  <a:pt x="0" y="11921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405" t="-13167" r="-9405" b="-26334"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3710668" y="6011466"/>
            <a:ext cx="7421336" cy="6493669"/>
            <a:chOff x="0" y="0"/>
            <a:chExt cx="812800" cy="7112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95D45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5400000">
            <a:off x="2696678" y="9388858"/>
            <a:ext cx="2052896" cy="1796284"/>
            <a:chOff x="0" y="0"/>
            <a:chExt cx="812800" cy="711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6DBF6C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-10800000">
            <a:off x="14577332" y="-2218134"/>
            <a:ext cx="7421336" cy="6493669"/>
            <a:chOff x="0" y="0"/>
            <a:chExt cx="812800" cy="7112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95D45D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 rot="5400000">
            <a:off x="14304978" y="-1794032"/>
            <a:ext cx="2052896" cy="3592568"/>
            <a:chOff x="0" y="0"/>
            <a:chExt cx="2737195" cy="4790090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2737195" cy="2395045"/>
              <a:chOff x="0" y="0"/>
              <a:chExt cx="812800" cy="7112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6DBF6C"/>
              </a:soli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27000" y="292100"/>
                <a:ext cx="558800" cy="368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 rot="-10800000">
              <a:off x="0" y="2395045"/>
              <a:ext cx="2737195" cy="2395045"/>
              <a:chOff x="0" y="0"/>
              <a:chExt cx="812800" cy="7112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5AAD59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27000" y="292100"/>
                <a:ext cx="558800" cy="368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9" name="Group 19"/>
          <p:cNvGrpSpPr/>
          <p:nvPr/>
        </p:nvGrpSpPr>
        <p:grpSpPr>
          <a:xfrm rot="-5400000">
            <a:off x="900394" y="9388858"/>
            <a:ext cx="2052896" cy="1796284"/>
            <a:chOff x="0" y="0"/>
            <a:chExt cx="812800" cy="7112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AAD59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6405423" y="9070175"/>
            <a:ext cx="853877" cy="643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12"/>
              </a:lnSpc>
            </a:pPr>
            <a:r>
              <a:rPr lang="en-US" sz="3794">
                <a:solidFill>
                  <a:srgbClr val="545454"/>
                </a:solidFill>
                <a:latin typeface="Hussar Bold"/>
                <a:ea typeface="Hussar Bold"/>
                <a:cs typeface="Hussar Bold"/>
                <a:sym typeface="Hussar Bold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254796" y="853769"/>
            <a:ext cx="7778408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545454"/>
                </a:solidFill>
                <a:latin typeface="Hussar Bold"/>
                <a:ea typeface="Hussar Bold"/>
                <a:cs typeface="Hussar Bold"/>
                <a:sym typeface="Hussar Bold"/>
              </a:rPr>
              <a:t>PROPOSED SOLUTION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926842" y="2242543"/>
            <a:ext cx="9675574" cy="65485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26106" lvl="1" indent="-313053" algn="just">
              <a:lnSpc>
                <a:spcPct val="150000"/>
              </a:lnSpc>
              <a:buFont typeface="Arial"/>
              <a:buChar char="•"/>
            </a:pPr>
            <a:r>
              <a:rPr lang="en-US" sz="2200" dirty="0"/>
              <a:t>To develop a secure mobile app for </a:t>
            </a:r>
            <a:r>
              <a:rPr lang="en-US" sz="2200" b="1" dirty="0"/>
              <a:t>book sharing within gated communities</a:t>
            </a:r>
            <a:r>
              <a:rPr lang="en-US" sz="2200" dirty="0"/>
              <a:t>, allowing access only to authorized members.</a:t>
            </a:r>
          </a:p>
          <a:p>
            <a:pPr marL="626106" lvl="1" indent="-313053" algn="just">
              <a:lnSpc>
                <a:spcPct val="150000"/>
              </a:lnSpc>
              <a:buFont typeface="Arial"/>
              <a:buChar char="•"/>
            </a:pPr>
            <a:r>
              <a:rPr lang="en-US" sz="2200" dirty="0"/>
              <a:t>To Implement </a:t>
            </a:r>
            <a:r>
              <a:rPr lang="en-US" sz="2200" b="1" dirty="0"/>
              <a:t>admin-controlled community </a:t>
            </a:r>
            <a:r>
              <a:rPr lang="en-US" sz="2200" dirty="0"/>
              <a:t>management to handle users and monitor activities.</a:t>
            </a:r>
          </a:p>
          <a:p>
            <a:pPr marL="626106" lvl="1" indent="-313053" algn="just">
              <a:lnSpc>
                <a:spcPct val="150000"/>
              </a:lnSpc>
              <a:buFont typeface="Arial"/>
              <a:buChar char="•"/>
            </a:pPr>
            <a:r>
              <a:rPr lang="en-US" sz="2200" dirty="0"/>
              <a:t>To Enable users to upload books and browse collections shared within their community.</a:t>
            </a:r>
          </a:p>
          <a:p>
            <a:pPr marL="626106" lvl="1" indent="-313053" algn="just">
              <a:lnSpc>
                <a:spcPct val="150000"/>
              </a:lnSpc>
              <a:buFont typeface="Arial"/>
              <a:buChar char="•"/>
            </a:pPr>
            <a:r>
              <a:rPr lang="en-US" sz="2200" dirty="0"/>
              <a:t>To Provide a structured book request workflow where users can </a:t>
            </a:r>
            <a:r>
              <a:rPr lang="en-US" sz="2200" b="1" dirty="0"/>
              <a:t>request books and owners can accept or decline the request</a:t>
            </a:r>
            <a:r>
              <a:rPr lang="en-US" sz="2200" dirty="0"/>
              <a:t>.</a:t>
            </a:r>
          </a:p>
          <a:p>
            <a:pPr marL="626106" lvl="1" indent="-313053" algn="just">
              <a:lnSpc>
                <a:spcPct val="150000"/>
              </a:lnSpc>
              <a:buFont typeface="Arial"/>
              <a:buChar char="•"/>
            </a:pPr>
            <a:r>
              <a:rPr lang="en-US" sz="2200" dirty="0"/>
              <a:t>To Ensure privacy protection by revealing the </a:t>
            </a:r>
            <a:r>
              <a:rPr lang="en-US" sz="2200" b="1" dirty="0"/>
              <a:t>book owner’s contact details only after the request is accepted.</a:t>
            </a:r>
          </a:p>
          <a:p>
            <a:pPr marL="626106" lvl="1" indent="-313053" algn="just">
              <a:lnSpc>
                <a:spcPct val="150000"/>
              </a:lnSpc>
              <a:buFont typeface="Arial"/>
              <a:buChar char="•"/>
            </a:pPr>
            <a:r>
              <a:rPr lang="en-US" sz="2200" b="1" dirty="0"/>
              <a:t>Integrate AI-based image verification </a:t>
            </a:r>
            <a:r>
              <a:rPr lang="en-US" sz="2200" dirty="0"/>
              <a:t>to check uploaded book covers and prevent inappropriate or vulnerable content from being shared.</a:t>
            </a:r>
          </a:p>
          <a:p>
            <a:pPr marL="626106" lvl="1" indent="-313053" algn="just">
              <a:lnSpc>
                <a:spcPct val="150000"/>
              </a:lnSpc>
              <a:buFont typeface="Arial"/>
              <a:buChar char="•"/>
            </a:pPr>
            <a:r>
              <a:rPr lang="en-US" sz="2200" dirty="0"/>
              <a:t>To use n8n to </a:t>
            </a:r>
            <a:r>
              <a:rPr lang="en-US" sz="2200" b="1" dirty="0"/>
              <a:t>automate email notifications </a:t>
            </a:r>
            <a:r>
              <a:rPr lang="en-US" sz="2200" dirty="0"/>
              <a:t>when new books are added.</a:t>
            </a:r>
            <a:endParaRPr lang="en-US" sz="2200" dirty="0">
              <a:solidFill>
                <a:srgbClr val="5B694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" name="Freeform 25"/>
          <p:cNvSpPr/>
          <p:nvPr/>
        </p:nvSpPr>
        <p:spPr>
          <a:xfrm>
            <a:off x="432650" y="525175"/>
            <a:ext cx="1042825" cy="1109795"/>
          </a:xfrm>
          <a:custGeom>
            <a:avLst/>
            <a:gdLst/>
            <a:ahLst/>
            <a:cxnLst/>
            <a:rect l="l" t="t" r="r" b="b"/>
            <a:pathLst>
              <a:path w="1042825" h="1109795">
                <a:moveTo>
                  <a:pt x="0" y="0"/>
                </a:moveTo>
                <a:lnTo>
                  <a:pt x="1042825" y="0"/>
                </a:lnTo>
                <a:lnTo>
                  <a:pt x="1042825" y="1109796"/>
                </a:lnTo>
                <a:lnTo>
                  <a:pt x="0" y="11097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1622953" y="525175"/>
            <a:ext cx="1399814" cy="1192193"/>
          </a:xfrm>
          <a:custGeom>
            <a:avLst/>
            <a:gdLst/>
            <a:ahLst/>
            <a:cxnLst/>
            <a:rect l="l" t="t" r="r" b="b"/>
            <a:pathLst>
              <a:path w="1399814" h="1192193">
                <a:moveTo>
                  <a:pt x="0" y="0"/>
                </a:moveTo>
                <a:lnTo>
                  <a:pt x="1399815" y="0"/>
                </a:lnTo>
                <a:lnTo>
                  <a:pt x="1399815" y="1192193"/>
                </a:lnTo>
                <a:lnTo>
                  <a:pt x="0" y="11921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405" t="-13167" r="-9405" b="-26334"/>
            </a:stretch>
          </a:blipFill>
        </p:spPr>
      </p:sp>
      <p:sp>
        <p:nvSpPr>
          <p:cNvPr id="29" name="Freeform 5">
            <a:extLst>
              <a:ext uri="{FF2B5EF4-FFF2-40B4-BE49-F238E27FC236}">
                <a16:creationId xmlns:a16="http://schemas.microsoft.com/office/drawing/2014/main" id="{98A7087E-45D8-5E8C-4B6C-5E7996A5350E}"/>
              </a:ext>
            </a:extLst>
          </p:cNvPr>
          <p:cNvSpPr/>
          <p:nvPr/>
        </p:nvSpPr>
        <p:spPr>
          <a:xfrm>
            <a:off x="11730193" y="1634970"/>
            <a:ext cx="5102168" cy="7249223"/>
          </a:xfrm>
          <a:custGeom>
            <a:avLst/>
            <a:gdLst/>
            <a:ahLst/>
            <a:cxnLst/>
            <a:rect l="l" t="t" r="r" b="b"/>
            <a:pathLst>
              <a:path w="6299174" h="9964436">
                <a:moveTo>
                  <a:pt x="0" y="0"/>
                </a:moveTo>
                <a:lnTo>
                  <a:pt x="6299174" y="0"/>
                </a:lnTo>
                <a:lnTo>
                  <a:pt x="6299174" y="9964436"/>
                </a:lnTo>
                <a:lnTo>
                  <a:pt x="0" y="99644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621" y="4105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3710668" y="6011466"/>
            <a:ext cx="7421336" cy="6493669"/>
            <a:chOff x="0" y="0"/>
            <a:chExt cx="812800" cy="7112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95D45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5400000">
            <a:off x="2696678" y="9388858"/>
            <a:ext cx="2052896" cy="1796284"/>
            <a:chOff x="0" y="0"/>
            <a:chExt cx="812800" cy="711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6DBF6C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-10800000">
            <a:off x="14577332" y="-2218134"/>
            <a:ext cx="7421336" cy="6493669"/>
            <a:chOff x="0" y="0"/>
            <a:chExt cx="812800" cy="7112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95D45D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 rot="5400000">
            <a:off x="14304978" y="-1794032"/>
            <a:ext cx="2052896" cy="3592568"/>
            <a:chOff x="0" y="0"/>
            <a:chExt cx="2737195" cy="4790090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2737195" cy="2395045"/>
              <a:chOff x="0" y="0"/>
              <a:chExt cx="812800" cy="7112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6DBF6C"/>
              </a:soli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27000" y="292100"/>
                <a:ext cx="558800" cy="368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 rot="-10800000">
              <a:off x="0" y="2395045"/>
              <a:ext cx="2737195" cy="2395045"/>
              <a:chOff x="0" y="0"/>
              <a:chExt cx="812800" cy="7112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5AAD59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27000" y="292100"/>
                <a:ext cx="558800" cy="368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9" name="Group 19"/>
          <p:cNvGrpSpPr/>
          <p:nvPr/>
        </p:nvGrpSpPr>
        <p:grpSpPr>
          <a:xfrm rot="-5400000">
            <a:off x="900394" y="9388858"/>
            <a:ext cx="2052896" cy="1796284"/>
            <a:chOff x="0" y="0"/>
            <a:chExt cx="812800" cy="7112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AAD59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6405423" y="9070175"/>
            <a:ext cx="853877" cy="643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12"/>
              </a:lnSpc>
            </a:pPr>
            <a:r>
              <a:rPr lang="en-US" sz="3794">
                <a:solidFill>
                  <a:srgbClr val="545454"/>
                </a:solidFill>
                <a:latin typeface="Hussar Bold"/>
                <a:ea typeface="Hussar Bold"/>
                <a:cs typeface="Hussar Bold"/>
                <a:sym typeface="Hussar Bold"/>
              </a:rPr>
              <a:t>05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603904" y="853769"/>
            <a:ext cx="7080192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545454"/>
                </a:solidFill>
                <a:latin typeface="Hussar Bold"/>
                <a:ea typeface="Hussar Bold"/>
                <a:cs typeface="Hussar Bold"/>
                <a:sym typeface="Hussar Bold"/>
              </a:rPr>
              <a:t>MARKET ANALYSIS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551085" y="2555522"/>
            <a:ext cx="12225812" cy="56579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26106" lvl="1" indent="-313053" algn="just">
              <a:lnSpc>
                <a:spcPct val="150000"/>
              </a:lnSpc>
              <a:buFont typeface="Arial"/>
              <a:buChar char="•"/>
            </a:pPr>
            <a:r>
              <a:rPr lang="en-US" sz="3200" dirty="0"/>
              <a:t>The </a:t>
            </a:r>
            <a:r>
              <a:rPr lang="en-US" sz="3200" b="1" dirty="0"/>
              <a:t>online book services market is rapidly growing</a:t>
            </a:r>
            <a:r>
              <a:rPr lang="en-US" sz="3200" dirty="0"/>
              <a:t>, expected to reach about </a:t>
            </a:r>
            <a:r>
              <a:rPr lang="en-US" sz="3200" b="1" dirty="0"/>
              <a:t>$26–27 billion by 2026</a:t>
            </a:r>
            <a:r>
              <a:rPr lang="en-US" sz="3200" dirty="0"/>
              <a:t> due to increasing internet and smartphone usage. </a:t>
            </a:r>
          </a:p>
          <a:p>
            <a:pPr marL="626106" lvl="1" indent="-313053" algn="just">
              <a:lnSpc>
                <a:spcPct val="150000"/>
              </a:lnSpc>
              <a:buFont typeface="Arial"/>
              <a:buChar char="•"/>
            </a:pPr>
            <a:r>
              <a:rPr lang="en-US" sz="3200" dirty="0"/>
              <a:t>The system has potential to expand to </a:t>
            </a:r>
            <a:r>
              <a:rPr lang="en-US" sz="3200" b="1" dirty="0"/>
              <a:t>multiple communities, schools, and residential societies</a:t>
            </a:r>
            <a:r>
              <a:rPr lang="en-US" sz="3200" dirty="0"/>
              <a:t> in the future. </a:t>
            </a:r>
          </a:p>
          <a:p>
            <a:pPr marL="626106" lvl="1" indent="-313053" algn="just">
              <a:lnSpc>
                <a:spcPct val="150000"/>
              </a:lnSpc>
              <a:buFont typeface="Arial"/>
              <a:buChar char="•"/>
            </a:pPr>
            <a:r>
              <a:rPr lang="en-US" sz="3200" dirty="0"/>
              <a:t>Many households own </a:t>
            </a:r>
            <a:r>
              <a:rPr lang="en-US" sz="3200" b="1" dirty="0"/>
              <a:t>unused books that remain idle</a:t>
            </a:r>
            <a:r>
              <a:rPr lang="en-US" sz="3200" dirty="0"/>
              <a:t>, creating an opportunity for a </a:t>
            </a:r>
            <a:r>
              <a:rPr lang="en-US" sz="3200" b="1" dirty="0"/>
              <a:t>book-sharing ecosystem</a:t>
            </a:r>
            <a:r>
              <a:rPr lang="en-US" sz="3200" dirty="0"/>
              <a:t>.	</a:t>
            </a:r>
            <a:endParaRPr lang="en-US" sz="2899" dirty="0">
              <a:solidFill>
                <a:srgbClr val="5B694E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313053" lvl="1" algn="ctr">
              <a:lnSpc>
                <a:spcPts val="4059"/>
              </a:lnSpc>
            </a:pPr>
            <a:r>
              <a:rPr lang="en-US" sz="2899" dirty="0">
                <a:solidFill>
                  <a:srgbClr val="5B694E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</a:p>
        </p:txBody>
      </p:sp>
      <p:sp>
        <p:nvSpPr>
          <p:cNvPr id="25" name="Freeform 25"/>
          <p:cNvSpPr/>
          <p:nvPr/>
        </p:nvSpPr>
        <p:spPr>
          <a:xfrm>
            <a:off x="432650" y="525175"/>
            <a:ext cx="1042825" cy="1109795"/>
          </a:xfrm>
          <a:custGeom>
            <a:avLst/>
            <a:gdLst/>
            <a:ahLst/>
            <a:cxnLst/>
            <a:rect l="l" t="t" r="r" b="b"/>
            <a:pathLst>
              <a:path w="1042825" h="1109795">
                <a:moveTo>
                  <a:pt x="0" y="0"/>
                </a:moveTo>
                <a:lnTo>
                  <a:pt x="1042825" y="0"/>
                </a:lnTo>
                <a:lnTo>
                  <a:pt x="1042825" y="1109796"/>
                </a:lnTo>
                <a:lnTo>
                  <a:pt x="0" y="11097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1622953" y="525175"/>
            <a:ext cx="1399814" cy="1192193"/>
          </a:xfrm>
          <a:custGeom>
            <a:avLst/>
            <a:gdLst/>
            <a:ahLst/>
            <a:cxnLst/>
            <a:rect l="l" t="t" r="r" b="b"/>
            <a:pathLst>
              <a:path w="1399814" h="1192193">
                <a:moveTo>
                  <a:pt x="0" y="0"/>
                </a:moveTo>
                <a:lnTo>
                  <a:pt x="1399815" y="0"/>
                </a:lnTo>
                <a:lnTo>
                  <a:pt x="1399815" y="1192193"/>
                </a:lnTo>
                <a:lnTo>
                  <a:pt x="0" y="11921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405" t="-13167" r="-9405" b="-26334"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3710668" y="6011466"/>
            <a:ext cx="7421336" cy="6493669"/>
            <a:chOff x="0" y="0"/>
            <a:chExt cx="812800" cy="7112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95D45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5400000">
            <a:off x="2696678" y="9388858"/>
            <a:ext cx="2052896" cy="1796284"/>
            <a:chOff x="0" y="0"/>
            <a:chExt cx="812800" cy="711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6DBF6C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-10800000">
            <a:off x="14577332" y="-2218134"/>
            <a:ext cx="7421336" cy="6493669"/>
            <a:chOff x="0" y="0"/>
            <a:chExt cx="812800" cy="7112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95D45D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 rot="5400000">
            <a:off x="14304978" y="-1794032"/>
            <a:ext cx="2052896" cy="3592568"/>
            <a:chOff x="0" y="0"/>
            <a:chExt cx="2737195" cy="4790090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2737195" cy="2395045"/>
              <a:chOff x="0" y="0"/>
              <a:chExt cx="812800" cy="7112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6DBF6C"/>
              </a:soli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27000" y="292100"/>
                <a:ext cx="558800" cy="368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 rot="-10800000">
              <a:off x="0" y="2395045"/>
              <a:ext cx="2737195" cy="2395045"/>
              <a:chOff x="0" y="0"/>
              <a:chExt cx="812800" cy="7112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5AAD59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27000" y="292100"/>
                <a:ext cx="558800" cy="368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9" name="Group 19"/>
          <p:cNvGrpSpPr/>
          <p:nvPr/>
        </p:nvGrpSpPr>
        <p:grpSpPr>
          <a:xfrm rot="-5400000">
            <a:off x="900394" y="9388858"/>
            <a:ext cx="2052896" cy="1796284"/>
            <a:chOff x="0" y="0"/>
            <a:chExt cx="812800" cy="7112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AAD59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6405423" y="9070175"/>
            <a:ext cx="853877" cy="643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12"/>
              </a:lnSpc>
            </a:pPr>
            <a:r>
              <a:rPr lang="en-US" sz="3794">
                <a:solidFill>
                  <a:srgbClr val="545454"/>
                </a:solidFill>
                <a:latin typeface="Hussar Bold"/>
                <a:ea typeface="Hussar Bold"/>
                <a:cs typeface="Hussar Bold"/>
                <a:sym typeface="Hussar Bold"/>
              </a:rPr>
              <a:t>06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902122" y="853769"/>
            <a:ext cx="6483755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545454"/>
                </a:solidFill>
                <a:latin typeface="Hussar Bold"/>
                <a:ea typeface="Hussar Bold"/>
                <a:cs typeface="Hussar Bold"/>
                <a:sym typeface="Hussar Bold"/>
              </a:rPr>
              <a:t>SDG ALIGNMENTS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622953" y="1887014"/>
            <a:ext cx="15574830" cy="7443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6106" lvl="1" indent="-313053" algn="just">
              <a:buFont typeface="Arial"/>
              <a:buChar char="•"/>
            </a:pPr>
            <a:r>
              <a:rPr lang="en-IN" sz="3600" b="1" dirty="0"/>
              <a:t>Quality Education (SDG 4)</a:t>
            </a:r>
          </a:p>
          <a:p>
            <a:pPr marL="313053" lvl="1" algn="just"/>
            <a:r>
              <a:rPr lang="en-US" sz="2800" dirty="0"/>
              <a:t>                         Encourages reading habits and knowledge sharing by making books easily accessible within the community.</a:t>
            </a:r>
            <a:r>
              <a:rPr lang="en-IN" sz="2800" b="1" dirty="0">
                <a:solidFill>
                  <a:srgbClr val="5B694E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  <a:p>
            <a:pPr marL="313053" lvl="1" algn="just"/>
            <a:endParaRPr lang="en-IN" sz="2800" b="1" dirty="0">
              <a:solidFill>
                <a:srgbClr val="5B694E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626106" lvl="1" indent="-313053" algn="just">
              <a:buFont typeface="Arial"/>
              <a:buChar char="•"/>
            </a:pPr>
            <a:r>
              <a:rPr lang="en-US" sz="3600" b="1" dirty="0"/>
              <a:t>Sustainable Cities and Communities (SDG 11)</a:t>
            </a:r>
          </a:p>
          <a:p>
            <a:pPr marL="313053" lvl="1" algn="just"/>
            <a:r>
              <a:rPr lang="en-US" sz="2800" dirty="0">
                <a:solidFill>
                  <a:srgbClr val="5B694E"/>
                </a:solidFill>
                <a:latin typeface="Roboto"/>
                <a:ea typeface="Roboto"/>
                <a:cs typeface="Roboto"/>
                <a:sym typeface="Roboto"/>
              </a:rPr>
              <a:t>                        </a:t>
            </a:r>
            <a:r>
              <a:rPr lang="en-US" sz="2800" dirty="0"/>
              <a:t>Promotes community collaboration and resource sharing among residents in gated communities.</a:t>
            </a:r>
            <a:r>
              <a:rPr lang="en-IN" sz="2800" dirty="0">
                <a:solidFill>
                  <a:srgbClr val="5B694E"/>
                </a:solidFill>
                <a:latin typeface="Roboto"/>
                <a:ea typeface="Roboto"/>
                <a:cs typeface="Roboto"/>
                <a:sym typeface="Roboto"/>
              </a:rPr>
              <a:t>  </a:t>
            </a:r>
          </a:p>
          <a:p>
            <a:pPr marL="313053" lvl="1" algn="just"/>
            <a:r>
              <a:rPr lang="en-IN" sz="2800" dirty="0">
                <a:solidFill>
                  <a:srgbClr val="5B694E"/>
                </a:solidFill>
                <a:latin typeface="Roboto"/>
                <a:ea typeface="Roboto"/>
                <a:cs typeface="Roboto"/>
                <a:sym typeface="Roboto"/>
              </a:rPr>
              <a:t>              </a:t>
            </a:r>
          </a:p>
          <a:p>
            <a:pPr marL="626106" lvl="1" indent="-313053" algn="just">
              <a:buFont typeface="Arial"/>
              <a:buChar char="•"/>
            </a:pPr>
            <a:r>
              <a:rPr lang="en-US" sz="3600" b="1" dirty="0"/>
              <a:t>Responsible Consumption and Production (SDG 12)</a:t>
            </a:r>
            <a:r>
              <a:rPr lang="en-IN" sz="3600" b="1" dirty="0">
                <a:sym typeface="Roboto"/>
              </a:rPr>
              <a:t> </a:t>
            </a:r>
          </a:p>
          <a:p>
            <a:pPr marL="313053" lvl="1" algn="just"/>
            <a:r>
              <a:rPr lang="en-IN" sz="2800" b="1" dirty="0">
                <a:solidFill>
                  <a:srgbClr val="5B694E"/>
                </a:solidFill>
                <a:latin typeface="Roboto"/>
                <a:ea typeface="Roboto"/>
                <a:cs typeface="Roboto"/>
                <a:sym typeface="Roboto"/>
              </a:rPr>
              <a:t>                          </a:t>
            </a:r>
            <a:r>
              <a:rPr lang="en-US" sz="2800" dirty="0"/>
              <a:t>Encourages reuse and sharing of books, reducing unnecessary purchases and promoting sustainable resource usage.</a:t>
            </a:r>
          </a:p>
          <a:p>
            <a:pPr marL="313053" lvl="1" algn="just"/>
            <a:endParaRPr lang="en-US" sz="2800" dirty="0"/>
          </a:p>
          <a:p>
            <a:pPr marL="770253" lvl="1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 </a:t>
            </a:r>
            <a:r>
              <a:rPr lang="en-US" sz="3600" b="1" dirty="0"/>
              <a:t>Reduced Inequalities (SDG 10) </a:t>
            </a:r>
          </a:p>
          <a:p>
            <a:pPr marL="313053" lvl="1" algn="just"/>
            <a:r>
              <a:rPr lang="en-US" sz="2800" b="1" dirty="0">
                <a:solidFill>
                  <a:srgbClr val="5B694E"/>
                </a:solidFill>
                <a:latin typeface="Roboto"/>
                <a:ea typeface="Roboto"/>
                <a:cs typeface="Roboto"/>
                <a:sym typeface="Roboto"/>
              </a:rPr>
              <a:t>                              </a:t>
            </a:r>
            <a:r>
              <a:rPr lang="en-US" sz="2800" dirty="0"/>
              <a:t>Provides equal access to books and learning resources for all residents in the community.</a:t>
            </a:r>
            <a:r>
              <a:rPr lang="en-IN" sz="2800" dirty="0">
                <a:solidFill>
                  <a:srgbClr val="5B694E"/>
                </a:solidFill>
                <a:latin typeface="Roboto"/>
                <a:ea typeface="Roboto"/>
                <a:cs typeface="Roboto"/>
                <a:sym typeface="Roboto"/>
              </a:rPr>
              <a:t>            </a:t>
            </a:r>
            <a:endParaRPr lang="en-US" sz="2800" dirty="0">
              <a:solidFill>
                <a:srgbClr val="5B694E"/>
              </a:solidFill>
              <a:latin typeface="Roboto"/>
              <a:ea typeface="Roboto"/>
              <a:cs typeface="Roboto"/>
              <a:sym typeface="Roboto"/>
            </a:endParaRPr>
          </a:p>
          <a:p>
            <a:pPr algn="ctr">
              <a:lnSpc>
                <a:spcPts val="4059"/>
              </a:lnSpc>
            </a:pPr>
            <a:endParaRPr lang="en-US" sz="2899" dirty="0">
              <a:solidFill>
                <a:srgbClr val="5B694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" name="Freeform 25"/>
          <p:cNvSpPr/>
          <p:nvPr/>
        </p:nvSpPr>
        <p:spPr>
          <a:xfrm>
            <a:off x="432650" y="525175"/>
            <a:ext cx="1042825" cy="1109795"/>
          </a:xfrm>
          <a:custGeom>
            <a:avLst/>
            <a:gdLst/>
            <a:ahLst/>
            <a:cxnLst/>
            <a:rect l="l" t="t" r="r" b="b"/>
            <a:pathLst>
              <a:path w="1042825" h="1109795">
                <a:moveTo>
                  <a:pt x="0" y="0"/>
                </a:moveTo>
                <a:lnTo>
                  <a:pt x="1042825" y="0"/>
                </a:lnTo>
                <a:lnTo>
                  <a:pt x="1042825" y="1109796"/>
                </a:lnTo>
                <a:lnTo>
                  <a:pt x="0" y="11097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1622953" y="525175"/>
            <a:ext cx="1399814" cy="1192193"/>
          </a:xfrm>
          <a:custGeom>
            <a:avLst/>
            <a:gdLst/>
            <a:ahLst/>
            <a:cxnLst/>
            <a:rect l="l" t="t" r="r" b="b"/>
            <a:pathLst>
              <a:path w="1399814" h="1192193">
                <a:moveTo>
                  <a:pt x="0" y="0"/>
                </a:moveTo>
                <a:lnTo>
                  <a:pt x="1399815" y="0"/>
                </a:lnTo>
                <a:lnTo>
                  <a:pt x="1399815" y="1192193"/>
                </a:lnTo>
                <a:lnTo>
                  <a:pt x="0" y="11921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405" t="-13167" r="-9405" b="-26334"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162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3710668" y="6011466"/>
            <a:ext cx="7421336" cy="6493669"/>
            <a:chOff x="0" y="0"/>
            <a:chExt cx="812800" cy="7112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95D45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5400000">
            <a:off x="2696678" y="9388858"/>
            <a:ext cx="2052896" cy="1796284"/>
            <a:chOff x="0" y="0"/>
            <a:chExt cx="812800" cy="711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6DBF6C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-10800000">
            <a:off x="14577332" y="-2218134"/>
            <a:ext cx="7421336" cy="6493669"/>
            <a:chOff x="0" y="0"/>
            <a:chExt cx="812800" cy="7112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95D45D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 rot="5400000">
            <a:off x="14304978" y="-1794032"/>
            <a:ext cx="2052896" cy="3592568"/>
            <a:chOff x="0" y="0"/>
            <a:chExt cx="2737195" cy="4790090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2737195" cy="2395045"/>
              <a:chOff x="0" y="0"/>
              <a:chExt cx="812800" cy="7112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6DBF6C"/>
              </a:soli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27000" y="292100"/>
                <a:ext cx="558800" cy="368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 rot="-10800000">
              <a:off x="0" y="2395045"/>
              <a:ext cx="2737195" cy="2395045"/>
              <a:chOff x="0" y="0"/>
              <a:chExt cx="812800" cy="7112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5AAD59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27000" y="292100"/>
                <a:ext cx="558800" cy="368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9" name="Group 19"/>
          <p:cNvGrpSpPr/>
          <p:nvPr/>
        </p:nvGrpSpPr>
        <p:grpSpPr>
          <a:xfrm rot="-5400000">
            <a:off x="900394" y="9388858"/>
            <a:ext cx="2052896" cy="1796284"/>
            <a:chOff x="0" y="0"/>
            <a:chExt cx="812800" cy="7112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AAD59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6405423" y="9070175"/>
            <a:ext cx="853877" cy="643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12"/>
              </a:lnSpc>
            </a:pPr>
            <a:r>
              <a:rPr lang="en-US" sz="3794">
                <a:solidFill>
                  <a:srgbClr val="545454"/>
                </a:solidFill>
                <a:latin typeface="Hussar Bold"/>
                <a:ea typeface="Hussar Bold"/>
                <a:cs typeface="Hussar Bold"/>
                <a:sym typeface="Hussar Bold"/>
              </a:rPr>
              <a:t>07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808656" y="853769"/>
            <a:ext cx="8670688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545454"/>
                </a:solidFill>
                <a:latin typeface="Hussar Bold"/>
                <a:ea typeface="Hussar Bold"/>
                <a:cs typeface="Hussar Bold"/>
                <a:sym typeface="Hussar Bold"/>
              </a:rPr>
              <a:t>FINANCIAL ESTIMATION</a:t>
            </a:r>
          </a:p>
        </p:txBody>
      </p:sp>
      <p:sp>
        <p:nvSpPr>
          <p:cNvPr id="25" name="Freeform 25"/>
          <p:cNvSpPr/>
          <p:nvPr/>
        </p:nvSpPr>
        <p:spPr>
          <a:xfrm>
            <a:off x="432650" y="525175"/>
            <a:ext cx="1042825" cy="1109795"/>
          </a:xfrm>
          <a:custGeom>
            <a:avLst/>
            <a:gdLst/>
            <a:ahLst/>
            <a:cxnLst/>
            <a:rect l="l" t="t" r="r" b="b"/>
            <a:pathLst>
              <a:path w="1042825" h="1109795">
                <a:moveTo>
                  <a:pt x="0" y="0"/>
                </a:moveTo>
                <a:lnTo>
                  <a:pt x="1042825" y="0"/>
                </a:lnTo>
                <a:lnTo>
                  <a:pt x="1042825" y="1109796"/>
                </a:lnTo>
                <a:lnTo>
                  <a:pt x="0" y="11097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1622953" y="525175"/>
            <a:ext cx="1399814" cy="1192193"/>
          </a:xfrm>
          <a:custGeom>
            <a:avLst/>
            <a:gdLst/>
            <a:ahLst/>
            <a:cxnLst/>
            <a:rect l="l" t="t" r="r" b="b"/>
            <a:pathLst>
              <a:path w="1399814" h="1192193">
                <a:moveTo>
                  <a:pt x="0" y="0"/>
                </a:moveTo>
                <a:lnTo>
                  <a:pt x="1399815" y="0"/>
                </a:lnTo>
                <a:lnTo>
                  <a:pt x="1399815" y="1192193"/>
                </a:lnTo>
                <a:lnTo>
                  <a:pt x="0" y="11921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405" t="-13167" r="-9405" b="-26334"/>
            </a:stretch>
          </a:blipFill>
        </p:spPr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A2620037-4201-0AA7-0532-EF073214CDD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1931" y="2242402"/>
            <a:ext cx="14623492" cy="673330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3710668" y="6011466"/>
            <a:ext cx="7421336" cy="6493669"/>
            <a:chOff x="0" y="0"/>
            <a:chExt cx="812800" cy="7112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95D45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5400000">
            <a:off x="2696678" y="9388858"/>
            <a:ext cx="2052896" cy="1796284"/>
            <a:chOff x="0" y="0"/>
            <a:chExt cx="812800" cy="711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6DBF6C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-10800000">
            <a:off x="14577332" y="-2218134"/>
            <a:ext cx="7421336" cy="6493669"/>
            <a:chOff x="0" y="0"/>
            <a:chExt cx="812800" cy="7112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95D45D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 rot="5400000">
            <a:off x="14304978" y="-1794032"/>
            <a:ext cx="2052896" cy="3592568"/>
            <a:chOff x="0" y="0"/>
            <a:chExt cx="2737195" cy="4790090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2737195" cy="2395045"/>
              <a:chOff x="0" y="0"/>
              <a:chExt cx="812800" cy="7112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6DBF6C"/>
              </a:soli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27000" y="292100"/>
                <a:ext cx="558800" cy="368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 rot="-10800000">
              <a:off x="0" y="2395045"/>
              <a:ext cx="2737195" cy="2395045"/>
              <a:chOff x="0" y="0"/>
              <a:chExt cx="812800" cy="7112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5AAD59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27000" y="292100"/>
                <a:ext cx="558800" cy="368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9" name="Group 19"/>
          <p:cNvGrpSpPr/>
          <p:nvPr/>
        </p:nvGrpSpPr>
        <p:grpSpPr>
          <a:xfrm rot="-5400000">
            <a:off x="900394" y="9388858"/>
            <a:ext cx="2052896" cy="1796284"/>
            <a:chOff x="0" y="0"/>
            <a:chExt cx="812800" cy="7112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AAD59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6405423" y="9070175"/>
            <a:ext cx="853877" cy="643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12"/>
              </a:lnSpc>
            </a:pPr>
            <a:r>
              <a:rPr lang="en-US" sz="3794">
                <a:solidFill>
                  <a:srgbClr val="545454"/>
                </a:solidFill>
                <a:latin typeface="Hussar Bold"/>
                <a:ea typeface="Hussar Bold"/>
                <a:cs typeface="Hussar Bold"/>
                <a:sym typeface="Hussar Bold"/>
              </a:rPr>
              <a:t>08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688334" y="853769"/>
            <a:ext cx="4911333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545454"/>
                </a:solidFill>
                <a:latin typeface="Hussar Bold"/>
                <a:ea typeface="Hussar Bold"/>
                <a:cs typeface="Hussar Bold"/>
                <a:sym typeface="Hussar Bold"/>
              </a:rPr>
              <a:t>CONCLUSION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006171" y="2727782"/>
            <a:ext cx="13855989" cy="5411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26106" lvl="1" indent="-313053" algn="just">
              <a:buFont typeface="Arial"/>
              <a:buChar char="•"/>
            </a:pPr>
            <a:r>
              <a:rPr lang="en-US" sz="3200" b="1" dirty="0"/>
              <a:t>BOOKBRIGE</a:t>
            </a:r>
            <a:r>
              <a:rPr lang="en-US" sz="3200" dirty="0"/>
              <a:t> aims to create a </a:t>
            </a:r>
            <a:r>
              <a:rPr lang="en-US" sz="3200" b="1" dirty="0"/>
              <a:t>secure and efficient platform for sharing books within gated communities</a:t>
            </a:r>
            <a:r>
              <a:rPr lang="en-US" sz="3200" dirty="0"/>
              <a:t>.</a:t>
            </a:r>
          </a:p>
          <a:p>
            <a:pPr marL="626106" lvl="1" indent="-313053" algn="just">
              <a:buFont typeface="Arial"/>
              <a:buChar char="•"/>
            </a:pPr>
            <a:r>
              <a:rPr lang="en-US" sz="3200" dirty="0"/>
              <a:t>The system simplifies the </a:t>
            </a:r>
            <a:r>
              <a:rPr lang="en-US" sz="3200" b="1" dirty="0"/>
              <a:t>process of discovering, requesting, and lending books among residents</a:t>
            </a:r>
            <a:r>
              <a:rPr lang="en-US" sz="3200" dirty="0"/>
              <a:t>.</a:t>
            </a:r>
          </a:p>
          <a:p>
            <a:pPr marL="626106" lvl="1" indent="-313053" algn="just">
              <a:buFont typeface="Arial"/>
              <a:buChar char="•"/>
            </a:pPr>
            <a:r>
              <a:rPr lang="en-US" sz="3200" dirty="0"/>
              <a:t>Features such as </a:t>
            </a:r>
            <a:r>
              <a:rPr lang="en-US" sz="3200" b="1" dirty="0"/>
              <a:t>admin-controlled access, AI-based verification, and automated notifications</a:t>
            </a:r>
            <a:r>
              <a:rPr lang="en-US" sz="3200" dirty="0"/>
              <a:t> improve security and reliability.</a:t>
            </a:r>
          </a:p>
          <a:p>
            <a:pPr marL="626106" lvl="1" indent="-313053" algn="just">
              <a:buFont typeface="Arial"/>
              <a:buChar char="•"/>
            </a:pPr>
            <a:r>
              <a:rPr lang="en-US" sz="3200" dirty="0"/>
              <a:t>By encouraging </a:t>
            </a:r>
            <a:r>
              <a:rPr lang="en-US" sz="3200" b="1" dirty="0"/>
              <a:t>book reuse and community interaction</a:t>
            </a:r>
            <a:r>
              <a:rPr lang="en-US" sz="3200" dirty="0"/>
              <a:t>, the platform promotes </a:t>
            </a:r>
            <a:r>
              <a:rPr lang="en-US" sz="3200" b="1" dirty="0"/>
              <a:t>reading habits and collaborative learning</a:t>
            </a:r>
            <a:r>
              <a:rPr lang="en-US" sz="3200" dirty="0"/>
              <a:t>.</a:t>
            </a:r>
          </a:p>
          <a:p>
            <a:pPr marL="626106" lvl="1" indent="-313053" algn="just">
              <a:buFont typeface="Arial"/>
              <a:buChar char="•"/>
            </a:pPr>
            <a:r>
              <a:rPr lang="en-US" sz="3200" dirty="0"/>
              <a:t>Overall, the proposed solution helps build a </a:t>
            </a:r>
            <a:r>
              <a:rPr lang="en-US" sz="3200" b="1" dirty="0"/>
              <a:t>connected, sustainable, and knowledge-sharing community environment</a:t>
            </a:r>
            <a:r>
              <a:rPr lang="en-US" sz="3200" dirty="0"/>
              <a:t>.</a:t>
            </a:r>
          </a:p>
          <a:p>
            <a:pPr marL="313053" lvl="1" algn="ctr">
              <a:lnSpc>
                <a:spcPts val="4059"/>
              </a:lnSpc>
            </a:pPr>
            <a:endParaRPr lang="en-US" sz="2899" dirty="0">
              <a:solidFill>
                <a:srgbClr val="5B694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" name="Freeform 25"/>
          <p:cNvSpPr/>
          <p:nvPr/>
        </p:nvSpPr>
        <p:spPr>
          <a:xfrm>
            <a:off x="432650" y="525175"/>
            <a:ext cx="1042825" cy="1109795"/>
          </a:xfrm>
          <a:custGeom>
            <a:avLst/>
            <a:gdLst/>
            <a:ahLst/>
            <a:cxnLst/>
            <a:rect l="l" t="t" r="r" b="b"/>
            <a:pathLst>
              <a:path w="1042825" h="1109795">
                <a:moveTo>
                  <a:pt x="0" y="0"/>
                </a:moveTo>
                <a:lnTo>
                  <a:pt x="1042825" y="0"/>
                </a:lnTo>
                <a:lnTo>
                  <a:pt x="1042825" y="1109796"/>
                </a:lnTo>
                <a:lnTo>
                  <a:pt x="0" y="11097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1622953" y="525175"/>
            <a:ext cx="1399814" cy="1192193"/>
          </a:xfrm>
          <a:custGeom>
            <a:avLst/>
            <a:gdLst/>
            <a:ahLst/>
            <a:cxnLst/>
            <a:rect l="l" t="t" r="r" b="b"/>
            <a:pathLst>
              <a:path w="1399814" h="1192193">
                <a:moveTo>
                  <a:pt x="0" y="0"/>
                </a:moveTo>
                <a:lnTo>
                  <a:pt x="1399815" y="0"/>
                </a:lnTo>
                <a:lnTo>
                  <a:pt x="1399815" y="1192193"/>
                </a:lnTo>
                <a:lnTo>
                  <a:pt x="0" y="11921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405" t="-13167" r="-9405" b="-26334"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3710668" y="6011466"/>
            <a:ext cx="7421336" cy="6493669"/>
            <a:chOff x="0" y="0"/>
            <a:chExt cx="812800" cy="7112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95D45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10800000">
            <a:off x="-1024196" y="5738089"/>
            <a:ext cx="2052896" cy="1796284"/>
            <a:chOff x="0" y="0"/>
            <a:chExt cx="812800" cy="711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6DBF6C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-10800000">
            <a:off x="14577332" y="-2218134"/>
            <a:ext cx="7421336" cy="6493669"/>
            <a:chOff x="0" y="0"/>
            <a:chExt cx="812800" cy="7112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95D45D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7259300" y="2931737"/>
            <a:ext cx="2052896" cy="1796284"/>
            <a:chOff x="0" y="0"/>
            <a:chExt cx="812800" cy="7112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6DBF6C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 rot="-10800000">
            <a:off x="17259300" y="4728021"/>
            <a:ext cx="2052896" cy="1796284"/>
            <a:chOff x="0" y="0"/>
            <a:chExt cx="812800" cy="7112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AAD59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-1024196" y="3941805"/>
            <a:ext cx="2052896" cy="1796284"/>
            <a:chOff x="0" y="0"/>
            <a:chExt cx="812800" cy="7112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AAD59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6887146" y="853769"/>
            <a:ext cx="4513708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545454"/>
                </a:solidFill>
                <a:latin typeface="Hussar Bold"/>
                <a:ea typeface="Hussar Bold"/>
                <a:cs typeface="Hussar Bold"/>
                <a:sym typeface="Hussar Bold"/>
              </a:rPr>
              <a:t>REFERENCES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329658" y="2917371"/>
            <a:ext cx="12276374" cy="4708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6106" lvl="1" indent="-313053" algn="just">
              <a:lnSpc>
                <a:spcPts val="4059"/>
              </a:lnSpc>
              <a:buFont typeface="Arial"/>
              <a:buChar char="•"/>
            </a:pPr>
            <a:r>
              <a:rPr lang="en-US" sz="3200" dirty="0">
                <a:hlinkClick r:id="rId3"/>
              </a:rPr>
              <a:t>(PDF) Design and Development of a Digital Platform for Peer -to -Peer Book Exchange</a:t>
            </a:r>
            <a:br>
              <a:rPr lang="en-US" sz="2899" dirty="0">
                <a:solidFill>
                  <a:srgbClr val="5B694E"/>
                </a:solidFill>
                <a:latin typeface="Roboto"/>
                <a:ea typeface="Roboto"/>
                <a:cs typeface="Roboto"/>
                <a:sym typeface="Roboto"/>
              </a:rPr>
            </a:br>
            <a:endParaRPr lang="en-US" sz="2899" dirty="0">
              <a:solidFill>
                <a:srgbClr val="5B694E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626106" lvl="1" indent="-313053" algn="just">
              <a:lnSpc>
                <a:spcPts val="4059"/>
              </a:lnSpc>
              <a:buFont typeface="Arial"/>
              <a:buChar char="•"/>
            </a:pPr>
            <a:r>
              <a:rPr lang="en-US" sz="3200" dirty="0">
                <a:hlinkClick r:id="rId4"/>
              </a:rPr>
              <a:t>Book-Share (BS) Apps using the Android System | Semantic Scholar</a:t>
            </a:r>
            <a:endParaRPr lang="en-US" sz="3200" dirty="0"/>
          </a:p>
          <a:p>
            <a:pPr marL="626106" lvl="1" indent="-313053" algn="just">
              <a:lnSpc>
                <a:spcPts val="4059"/>
              </a:lnSpc>
              <a:buFont typeface="Arial"/>
              <a:buChar char="•"/>
            </a:pPr>
            <a:endParaRPr lang="en-US" sz="3200" dirty="0"/>
          </a:p>
          <a:p>
            <a:pPr marL="626106" lvl="1" indent="-313053" algn="just">
              <a:lnSpc>
                <a:spcPts val="4059"/>
              </a:lnSpc>
              <a:buFont typeface="Arial"/>
              <a:buChar char="•"/>
            </a:pPr>
            <a:r>
              <a:rPr lang="en-US" sz="3200" dirty="0">
                <a:hlinkClick r:id="rId5"/>
              </a:rPr>
              <a:t>[PDF] Design and Implementation of Book Sharing System | Semantic Scholar</a:t>
            </a:r>
            <a:endParaRPr lang="en-US" sz="3200" dirty="0"/>
          </a:p>
          <a:p>
            <a:pPr marL="313053" lvl="1" algn="just">
              <a:lnSpc>
                <a:spcPts val="4059"/>
              </a:lnSpc>
            </a:pPr>
            <a:endParaRPr lang="en-US" sz="3200" dirty="0"/>
          </a:p>
          <a:p>
            <a:pPr marL="626106" lvl="1" indent="-313053" algn="just">
              <a:lnSpc>
                <a:spcPts val="4059"/>
              </a:lnSpc>
              <a:buFont typeface="Arial"/>
              <a:buChar char="•"/>
            </a:pPr>
            <a:r>
              <a:rPr lang="en-US" sz="3200" dirty="0">
                <a:hlinkClick r:id="rId6"/>
              </a:rPr>
              <a:t>Hybrid Development in Flutter and its </a:t>
            </a:r>
            <a:r>
              <a:rPr lang="en-US" sz="3200" dirty="0" err="1">
                <a:hlinkClick r:id="rId6"/>
              </a:rPr>
              <a:t>Widgits</a:t>
            </a:r>
            <a:r>
              <a:rPr lang="en-US" sz="3200" dirty="0">
                <a:hlinkClick r:id="rId6"/>
              </a:rPr>
              <a:t> | Semantic Scholar</a:t>
            </a:r>
            <a:endParaRPr lang="en-US" sz="3200" dirty="0"/>
          </a:p>
        </p:txBody>
      </p:sp>
      <p:sp>
        <p:nvSpPr>
          <p:cNvPr id="23" name="Freeform 23"/>
          <p:cNvSpPr/>
          <p:nvPr/>
        </p:nvSpPr>
        <p:spPr>
          <a:xfrm>
            <a:off x="432650" y="525175"/>
            <a:ext cx="1042825" cy="1109795"/>
          </a:xfrm>
          <a:custGeom>
            <a:avLst/>
            <a:gdLst/>
            <a:ahLst/>
            <a:cxnLst/>
            <a:rect l="l" t="t" r="r" b="b"/>
            <a:pathLst>
              <a:path w="1042825" h="1109795">
                <a:moveTo>
                  <a:pt x="0" y="0"/>
                </a:moveTo>
                <a:lnTo>
                  <a:pt x="1042825" y="0"/>
                </a:lnTo>
                <a:lnTo>
                  <a:pt x="1042825" y="1109796"/>
                </a:lnTo>
                <a:lnTo>
                  <a:pt x="0" y="11097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1622953" y="525175"/>
            <a:ext cx="1399814" cy="1192193"/>
          </a:xfrm>
          <a:custGeom>
            <a:avLst/>
            <a:gdLst/>
            <a:ahLst/>
            <a:cxnLst/>
            <a:rect l="l" t="t" r="r" b="b"/>
            <a:pathLst>
              <a:path w="1399814" h="1192193">
                <a:moveTo>
                  <a:pt x="0" y="0"/>
                </a:moveTo>
                <a:lnTo>
                  <a:pt x="1399815" y="0"/>
                </a:lnTo>
                <a:lnTo>
                  <a:pt x="1399815" y="1192193"/>
                </a:lnTo>
                <a:lnTo>
                  <a:pt x="0" y="119219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9405" t="-13167" r="-9405" b="-26334"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16405423" y="9070175"/>
            <a:ext cx="853877" cy="643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12"/>
              </a:lnSpc>
            </a:pPr>
            <a:r>
              <a:rPr lang="en-US" sz="3794">
                <a:solidFill>
                  <a:srgbClr val="545454"/>
                </a:solidFill>
                <a:latin typeface="Hussar Bold"/>
                <a:ea typeface="Hussar Bold"/>
                <a:cs typeface="Hussar Bold"/>
                <a:sym typeface="Hussar Bold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719</Words>
  <Application>Microsoft Office PowerPoint</Application>
  <PresentationFormat>Custom</PresentationFormat>
  <Paragraphs>77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Norwester</vt:lpstr>
      <vt:lpstr>Hussar Bold</vt:lpstr>
      <vt:lpstr>Times New Roman MT Bold</vt:lpstr>
      <vt:lpstr>Arial</vt:lpstr>
      <vt:lpstr>Calibri</vt:lpstr>
      <vt:lpstr>Garet Bold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Visualize'26 PPT Template</dc:title>
  <cp:lastModifiedBy>Vipinayan vipi</cp:lastModifiedBy>
  <cp:revision>3</cp:revision>
  <dcterms:created xsi:type="dcterms:W3CDTF">2006-08-16T00:00:00Z</dcterms:created>
  <dcterms:modified xsi:type="dcterms:W3CDTF">2026-03-13T08:49:47Z</dcterms:modified>
  <dc:identifier>DAHDtWbs18g</dc:identifier>
</cp:coreProperties>
</file>